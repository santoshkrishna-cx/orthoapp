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B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786384"/>
            <a:ext cx="8229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Asthimitra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Dignified, doctor-supervised orthopedic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care — at home, and to every hospital visit.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2801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D8E8E4"/>
                </a:solidFill>
                <a:latin typeface="Georgia"/>
              </a:rPr>
              <a:t>“We carry the weight that love alone was never meant to carry.”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FD6D1"/>
                </a:solidFill>
                <a:latin typeface="Calibri"/>
              </a:rPr>
              <a:t>Your bone-care friend — the platform that runs the home-care service for families, doctors, and care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2BC"/>
                </a:solidFill>
                <a:latin typeface="Calibri"/>
              </a:rPr>
              <a:t>Ortho home care &amp; hospital escort  ·  Hyderabad  · 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WHAT IS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Asthimitra in 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82A27"/>
                </a:solidFill>
                <a:latin typeface="Calibri"/>
              </a:rPr>
              <a:t>Asthimitra is the operating system that runs the entire home-care service — it turns an enquiry into a doctor-approved care plan, sends verified caretakers and escorts, records every act of care, and keeps the family continuously informed.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257800" cy="2468880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109728" cy="2468880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5A54"/>
                </a:solidFill>
                <a:latin typeface="Calibri"/>
              </a:rPr>
              <a:t>The family's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13632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A66"/>
                </a:solidFill>
                <a:latin typeface="Calibri"/>
              </a:rPr>
              <a:t>A calm daily view of a loved one's recovery: today's report, vitals, the 2-hour repositioning log, the care team, upcoming hospital escorts, and transparent billing.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00400"/>
            <a:ext cx="5257800" cy="2468880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200400"/>
            <a:ext cx="109728" cy="2468880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5A54"/>
                </a:solidFill>
                <a:latin typeface="Calibri"/>
              </a:rPr>
              <a:t>The team's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13632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A66"/>
                </a:solidFill>
                <a:latin typeface="Calibri"/>
              </a:rPr>
              <a:t>Doctors design &amp; approve plans; caretakers and escorts log care at the bedside and on the road — even offline; coordinators schedule, monitor safety, and prove quality.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Asthimitra  ·  Ortho home care &amp; hospital escort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WHY IT'S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Two gaps families can't close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82A27"/>
                </a:solidFill>
                <a:latin typeface="Calibri"/>
              </a:rPr>
              <a:t>Love is irreplaceable — but safe orthopedic recovery needs trained skill and constant coordination.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257800" cy="1874519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9728" cy="1874519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5A54"/>
                </a:solidFill>
                <a:latin typeface="Calibri"/>
              </a:rPr>
              <a:t>A clinical-skill gap at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93592"/>
            <a:ext cx="470916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A66"/>
                </a:solidFill>
                <a:latin typeface="Calibri"/>
              </a:rPr>
              <a:t>Safe transfers, pressure-sore prevention, wound care and spotting complications are trained skills — not things love or guilt can substitute for.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880360"/>
            <a:ext cx="5257800" cy="1874519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80360"/>
            <a:ext cx="109728" cy="1874519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5A54"/>
                </a:solidFill>
                <a:latin typeface="Calibri"/>
              </a:rPr>
              <a:t>A continuity gap, hospital ↔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93592"/>
            <a:ext cx="470916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A66"/>
                </a:solidFill>
                <a:latin typeface="Calibri"/>
              </a:rPr>
              <a:t>Appointments get missed, discharge instructions get lost, and unaccompanied travel is unsafe for immobile patients.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881360" cy="914400"/>
          </a:xfrm>
          <a:prstGeom prst="round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10332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Today this is run on phone calls, paper notes and WhatsApp — it doesn't scale, isn't auditable, and gives families no single, trustworthy view. Asthimitra fixes that.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Asthimitra  ·  Ortho home care &amp; hospital escort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Nine things,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Intake &amp; assessment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enquiry to free home visit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Doctor-approved care plan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no care starts unapproved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Verified staffing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background &amp; certification checks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Scheduling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caretaker shifts + escort trips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Bedside logging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vitals, meds, 2-hour repositioning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1488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Hospital escort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GPS-tracked, checklist-driven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Family transparency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daily reports + messaging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Safety &amp; emergency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24×7, under-30-minute response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700" b="1">
                <a:solidFill>
                  <a:srgbClr val="182A27"/>
                </a:solidFill>
                <a:latin typeface="Calibri"/>
              </a:rPr>
              <a:t>Billing &amp; payments — </a:t>
            </a:r>
            <a:r>
              <a:rPr sz="1700" b="0">
                <a:solidFill>
                  <a:srgbClr val="5A6A66"/>
                </a:solidFill>
                <a:latin typeface="Calibri"/>
              </a:rPr>
              <a:t>GST invoice, UPI / card / net-banking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Asthimitra  ·  Ortho home care &amp; hospital escort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WHO IT'S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The people around a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50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4436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one trustworthy view; relief from burnout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219456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450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94436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dignity, consent, comfort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19456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219456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450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Supervising doctors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94436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author, approve &amp; review plans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19456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219456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24505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Physiotherapists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94436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home exercise &amp; mobility programs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20624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4622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Caretakers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95604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simple bedside logging &amp; fast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20624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80" y="420624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44622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Escorts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495604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safe hospital trips &amp; visit notes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20624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26480" y="420624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44622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Care coordinators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95604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scheduling, alerts, quality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4206240"/>
            <a:ext cx="2560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69680" y="4206240"/>
            <a:ext cx="2560320" cy="109728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446227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E5A54"/>
                </a:solidFill>
                <a:latin typeface="Calibri"/>
              </a:rPr>
              <a:t>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495604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A66"/>
                </a:solidFill>
                <a:latin typeface="Calibri"/>
              </a:rPr>
              <a:t>compliance, billing, KPIs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Asthimitra  ·  Ortho home care &amp; hospital escort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One recovery journey, five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0025" y="2788920"/>
            <a:ext cx="822960" cy="822960"/>
          </a:xfrm>
          <a:prstGeom prst="ellipse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0025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Enquiry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Call or online form → free home assessment.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0363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DC6B4F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7251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47196" y="2788920"/>
            <a:ext cx="822960" cy="822960"/>
          </a:xfrm>
          <a:prstGeom prst="ellipse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196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1843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Doctor care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1843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Physician designs &amp; approves a personalized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7534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DC6B4F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4422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84367" y="2788920"/>
            <a:ext cx="822960" cy="822960"/>
          </a:xfrm>
          <a:prstGeom prst="ellipse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84367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9014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Team assigned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9014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Matched, verified team is briefed on the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705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DC6B4F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1593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21538" y="2788920"/>
            <a:ext cx="822960" cy="822960"/>
          </a:xfrm>
          <a:prstGeom prst="ellipse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1538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185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Care &amp;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185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Daily reports, safety logs, physio &amp; escorts.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1876" y="35204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DC6B4F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8764" y="2468880"/>
            <a:ext cx="1962851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8709" y="2788920"/>
            <a:ext cx="822960" cy="822960"/>
          </a:xfrm>
          <a:prstGeom prst="ellipse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8709" y="27889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5A6A66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356" y="3794760"/>
            <a:ext cx="16336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5A54"/>
                </a:solidFill>
                <a:latin typeface="Calibri"/>
              </a:rPr>
              <a:t>Review &amp; transition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3356" y="4343399"/>
            <a:ext cx="16336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A66"/>
                </a:solidFill>
                <a:latin typeface="Calibri"/>
              </a:rPr>
              <a:t>Monthly review → assisted independence.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A66"/>
                </a:solidFill>
                <a:latin typeface="Calibri"/>
              </a:rPr>
              <a:t>Weekly supervisor spot-visits and monthly physician reviews keep the plan right as the patient recovers.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Asthimitra  ·  Ortho home care &amp; hospital escort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Three apps, one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429000" cy="914400"/>
          </a:xfrm>
          <a:prstGeom prst="round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429000" cy="457200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2304"/>
            <a:ext cx="2880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C6B4F"/>
                </a:solidFill>
                <a:latin typeface="Calibri"/>
              </a:rPr>
              <a:t>Follow recovery day by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Journey &amp; daily reports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Care team &amp; escorts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GST billing + in-app payment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English · Telugu · Hindi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8600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2286000"/>
            <a:ext cx="3429000" cy="914400"/>
          </a:xfrm>
          <a:prstGeom prst="roundRect">
            <a:avLst/>
          </a:prstGeom>
          <a:solidFill>
            <a:srgbClr val="4C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743200"/>
            <a:ext cx="3429000" cy="457200"/>
          </a:xfrm>
          <a:prstGeom prst="rect">
            <a:avLst/>
          </a:prstGeom>
          <a:solidFill>
            <a:srgbClr val="4C7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432304"/>
            <a:ext cx="2880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Doctor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3375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C7BB0"/>
                </a:solidFill>
                <a:latin typeface="Calibri"/>
              </a:rPr>
              <a:t>Supervise &amp; 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84048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Patients &amp; vitals trends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Approve care plans (the gate)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Reviews &amp; clinical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28600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2286000"/>
            <a:ext cx="3429000" cy="914400"/>
          </a:xfrm>
          <a:prstGeom prst="roundRect">
            <a:avLst/>
          </a:prstGeom>
          <a:solidFill>
            <a:srgbClr val="E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743200"/>
            <a:ext cx="3429000" cy="457200"/>
          </a:xfrm>
          <a:prstGeom prst="rect">
            <a:avLst/>
          </a:prstGeom>
          <a:solidFill>
            <a:srgbClr val="E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432304"/>
            <a:ext cx="2880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Escort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375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07A3E"/>
                </a:solidFill>
                <a:latin typeface="Calibri"/>
              </a:rPr>
              <a:t>Safe hospital trips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4048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Live trip + GPS &amp; ETA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Journey checklist &amp; notes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300">
                <a:solidFill>
                  <a:srgbClr val="182A27"/>
                </a:solidFill>
                <a:latin typeface="Calibri"/>
              </a:rPr>
              <a:t>Works offline, syncs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Asthimitra  ·  Ortho home care &amp; hospital escort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822960" cy="82296"/>
          </a:xfrm>
          <a:prstGeom prst="rect">
            <a:avLst/>
          </a:prstGeom>
          <a:solidFill>
            <a:srgbClr val="DC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C6B4F"/>
                </a:solidFill>
                <a:latin typeface="Calibri"/>
              </a:rPr>
              <a:t>WHY TRUST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0E5A54"/>
                </a:solidFill>
                <a:latin typeface="Georgia"/>
              </a:rPr>
              <a:t>Built for dignity, safety &amp; transparency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Dignity first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consent, privacy, respect built in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Verified people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police-checked, 120-hr certified, BLS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No-substitution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no staff change without your consent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&lt;30-min emergency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24×7 desk, tracked escalation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19456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Complication safety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2-hour repositioning, fall prevention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Transparent billing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written estimate first, GST, no surprises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Compliant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HIPAA-aligned, NABH guidelines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DC6B4F"/>
                </a:solidFill>
                <a:latin typeface="Calibri"/>
              </a:rPr>
              <a:t>●  </a:t>
            </a:r>
            <a:r>
              <a:rPr sz="1600" b="1">
                <a:solidFill>
                  <a:srgbClr val="182A27"/>
                </a:solidFill>
                <a:latin typeface="Calibri"/>
              </a:rPr>
              <a:t>Built for v1 — </a:t>
            </a:r>
            <a:r>
              <a:rPr sz="1600" b="0">
                <a:solidFill>
                  <a:srgbClr val="5A6A66"/>
                </a:solidFill>
                <a:latin typeface="Calibri"/>
              </a:rPr>
              <a:t>Hyderabad · EN/TE/HI · offline-first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881360" cy="685800"/>
          </a:xfrm>
          <a:prstGeom prst="roundRect">
            <a:avLst/>
          </a:prstGeom>
          <a:solidFill>
            <a:srgbClr val="F0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E5A54"/>
                </a:solidFill>
                <a:latin typeface="Calibri"/>
              </a:rPr>
              <a:t>Mission: dignified, professional, compassionate orthopedic care at home.   Promise: every caretaker trained, verified, and doctor-supervised.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A66"/>
                </a:solidFill>
                <a:latin typeface="Calibri"/>
              </a:rPr>
              <a:t>Asthimitra  ·  Ortho home care &amp; hospital escort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6A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