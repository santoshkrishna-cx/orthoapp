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6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0"/>
          </a:xfrm>
          <a:prstGeom prst="rect">
            <a:avLst/>
          </a:prstGeom>
          <a:solidFill>
            <a:srgbClr val="0E4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1053388" y="914400"/>
            <a:ext cx="181052" cy="510235"/>
          </a:xfrm>
          <a:prstGeom prst="line">
            <a:avLst/>
          </a:prstGeom>
          <a:ln w="98755" cap="rnd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234440" y="914400"/>
            <a:ext cx="181051" cy="510235"/>
          </a:xfrm>
          <a:prstGeom prst="line">
            <a:avLst/>
          </a:prstGeom>
          <a:ln w="98755" cap="rnd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86307" y="1218895"/>
            <a:ext cx="296265" cy="0"/>
          </a:xfrm>
          <a:prstGeom prst="line">
            <a:avLst/>
          </a:prstGeom>
          <a:ln w="98755" cap="rnd">
            <a:solidFill>
              <a:srgbClr val="F4B2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04011" y="1087222"/>
            <a:ext cx="148132" cy="148132"/>
          </a:xfrm>
          <a:prstGeom prst="ellipse">
            <a:avLst/>
          </a:prstGeom>
          <a:solidFill>
            <a:srgbClr val="F4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" y="1202436"/>
            <a:ext cx="148132" cy="148132"/>
          </a:xfrm>
          <a:prstGeom prst="ellipse">
            <a:avLst/>
          </a:prstGeom>
          <a:solidFill>
            <a:srgbClr val="F4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16736" y="1087222"/>
            <a:ext cx="148132" cy="148132"/>
          </a:xfrm>
          <a:prstGeom prst="ellipse">
            <a:avLst/>
          </a:prstGeom>
          <a:solidFill>
            <a:srgbClr val="F4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16736" y="1202436"/>
            <a:ext cx="148132" cy="148132"/>
          </a:xfrm>
          <a:prstGeom prst="ellipse">
            <a:avLst/>
          </a:prstGeom>
          <a:solidFill>
            <a:srgbClr val="F4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786384"/>
            <a:ext cx="8229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Asthimitra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Dignified, doctor-supervised orthopedic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care — at home, and to every hospital visit.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4343400"/>
            <a:ext cx="1280160" cy="82296"/>
          </a:xfrm>
          <a:prstGeom prst="rect">
            <a:avLst/>
          </a:prstGeom>
          <a:solidFill>
            <a:srgbClr val="E09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572000"/>
            <a:ext cx="10241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D8E8E4"/>
                </a:solidFill>
                <a:latin typeface="Georgia"/>
              </a:rPr>
              <a:t>“We carry the weight that love alone was never meant to carry.”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BFD6D1"/>
                </a:solidFill>
                <a:latin typeface="Calibri"/>
              </a:rPr>
              <a:t>Your bone-care friend — the platform that runs the home-care service for families, doctors, and care teams.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9FC2BC"/>
                </a:solidFill>
                <a:latin typeface="Calibri"/>
              </a:rPr>
              <a:t>Ortho home care &amp; hospital escort  ·  Hyderabad  · 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6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66928"/>
            <a:ext cx="822960" cy="82296"/>
          </a:xfrm>
          <a:prstGeom prst="rect">
            <a:avLst/>
          </a:prstGeom>
          <a:solidFill>
            <a:srgbClr val="E09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E0930F"/>
                </a:solidFill>
                <a:latin typeface="Calibri"/>
              </a:rPr>
              <a:t>WHAT IS THIS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1466C7"/>
                </a:solidFill>
                <a:latin typeface="Georgia"/>
              </a:rPr>
              <a:t>Asthimitra in one 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881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>
                <a:solidFill>
                  <a:srgbClr val="182A27"/>
                </a:solidFill>
                <a:latin typeface="Calibri"/>
              </a:rPr>
              <a:t>Asthimitra is the operating system that runs the entire home-care service — it turns an enquiry into a doctor-approved care plan, sends verified caretakers and escorts, records every act of care, and keeps the family continuously informed.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00400"/>
            <a:ext cx="5257800" cy="2468880"/>
          </a:xfrm>
          <a:prstGeom prst="roundRect">
            <a:avLst/>
          </a:prstGeom>
          <a:solidFill>
            <a:srgbClr val="F0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3200400"/>
            <a:ext cx="109728" cy="2468880"/>
          </a:xfrm>
          <a:prstGeom prst="roundRect">
            <a:avLst/>
          </a:prstGeom>
          <a:solidFill>
            <a:srgbClr val="E09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42900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1466C7"/>
                </a:solidFill>
                <a:latin typeface="Calibri"/>
              </a:rPr>
              <a:t>The family's window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913632"/>
            <a:ext cx="47091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A6A66"/>
                </a:solidFill>
                <a:latin typeface="Calibri"/>
              </a:rPr>
              <a:t>A calm daily view of a loved one's recovery: today's report, vitals, the 2-hour repositioning log, the care team, upcoming hospital escorts, and transparent billing.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200400"/>
            <a:ext cx="5257800" cy="2468880"/>
          </a:xfrm>
          <a:prstGeom prst="roundRect">
            <a:avLst/>
          </a:prstGeom>
          <a:solidFill>
            <a:srgbClr val="F0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200400"/>
            <a:ext cx="109728" cy="2468880"/>
          </a:xfrm>
          <a:prstGeom prst="roundRect">
            <a:avLst/>
          </a:prstGeom>
          <a:solidFill>
            <a:srgbClr val="E09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342900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1466C7"/>
                </a:solidFill>
                <a:latin typeface="Calibri"/>
              </a:rPr>
              <a:t>The team's toolkit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913632"/>
            <a:ext cx="47091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A6A66"/>
                </a:solidFill>
                <a:latin typeface="Calibri"/>
              </a:rPr>
              <a:t>Doctors design &amp; approve plans; caretakers and escorts log care at the bedside and on the road — even offline; coordinators schedule, monitor safety, and prove quality.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A6A66"/>
                </a:solidFill>
                <a:latin typeface="Calibri"/>
              </a:rPr>
              <a:t>Asthimitra  ·  Ortho home care &amp; hospital escort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419088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5A6A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6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66928"/>
            <a:ext cx="822960" cy="82296"/>
          </a:xfrm>
          <a:prstGeom prst="rect">
            <a:avLst/>
          </a:prstGeom>
          <a:solidFill>
            <a:srgbClr val="E09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E0930F"/>
                </a:solidFill>
                <a:latin typeface="Calibri"/>
              </a:rPr>
              <a:t>WHY IT'S NEEDED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1466C7"/>
                </a:solidFill>
                <a:latin typeface="Georgia"/>
              </a:rPr>
              <a:t>Two gaps families can't close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182A27"/>
                </a:solidFill>
                <a:latin typeface="Calibri"/>
              </a:rPr>
              <a:t>Love is irreplaceable — but safe orthopedic recovery needs trained skill and constant coordination.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5257800" cy="1874519"/>
          </a:xfrm>
          <a:prstGeom prst="roundRect">
            <a:avLst/>
          </a:prstGeom>
          <a:solidFill>
            <a:srgbClr val="F0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880360"/>
            <a:ext cx="109728" cy="1874519"/>
          </a:xfrm>
          <a:prstGeom prst="roundRect">
            <a:avLst/>
          </a:prstGeom>
          <a:solidFill>
            <a:srgbClr val="E09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10896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1466C7"/>
                </a:solidFill>
                <a:latin typeface="Calibri"/>
              </a:rPr>
              <a:t>A clinical-skill gap at home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593592"/>
            <a:ext cx="4709160" cy="10515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A6A66"/>
                </a:solidFill>
                <a:latin typeface="Calibri"/>
              </a:rPr>
              <a:t>Safe transfers, pressure-sore prevention, wound care and spotting complications are trained skills — not things love or guilt can substitute for.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880360"/>
            <a:ext cx="5257800" cy="1874519"/>
          </a:xfrm>
          <a:prstGeom prst="roundRect">
            <a:avLst/>
          </a:prstGeom>
          <a:solidFill>
            <a:srgbClr val="F0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2880360"/>
            <a:ext cx="109728" cy="1874519"/>
          </a:xfrm>
          <a:prstGeom prst="roundRect">
            <a:avLst/>
          </a:prstGeom>
          <a:solidFill>
            <a:srgbClr val="E09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310896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1466C7"/>
                </a:solidFill>
                <a:latin typeface="Calibri"/>
              </a:rPr>
              <a:t>A continuity gap, hospital ↔ home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593592"/>
            <a:ext cx="4709160" cy="10515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A6A66"/>
                </a:solidFill>
                <a:latin typeface="Calibri"/>
              </a:rPr>
              <a:t>Appointments get missed, discharge instructions get lost, and unaccompanied travel is unsafe for immobile patients.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029200"/>
            <a:ext cx="10881360" cy="914400"/>
          </a:xfrm>
          <a:prstGeom prst="roundRect">
            <a:avLst/>
          </a:prstGeom>
          <a:solidFill>
            <a:srgbClr val="146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29200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Today this is run on phone calls, paper notes and WhatsApp — it doesn't scale, isn't auditable, and gives families no single, trustworthy view. Asthimitra fixes that.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A6A66"/>
                </a:solidFill>
                <a:latin typeface="Calibri"/>
              </a:rPr>
              <a:t>Asthimitra  ·  Ortho home care &amp; hospital escort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19088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5A6A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6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66928"/>
            <a:ext cx="822960" cy="82296"/>
          </a:xfrm>
          <a:prstGeom prst="rect">
            <a:avLst/>
          </a:prstGeom>
          <a:solidFill>
            <a:srgbClr val="E09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E0930F"/>
                </a:solidFill>
                <a:latin typeface="Calibri"/>
              </a:rPr>
              <a:t>WHAT IT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1466C7"/>
                </a:solidFill>
                <a:latin typeface="Georgia"/>
              </a:rPr>
              <a:t>Nine things, end to 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539496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100" b="1">
                <a:solidFill>
                  <a:srgbClr val="E0930F"/>
                </a:solidFill>
                <a:latin typeface="Calibri"/>
              </a:rPr>
              <a:t>●  </a:t>
            </a:r>
            <a:r>
              <a:rPr sz="1700" b="1">
                <a:solidFill>
                  <a:srgbClr val="182A27"/>
                </a:solidFill>
                <a:latin typeface="Calibri"/>
              </a:rPr>
              <a:t>Intake &amp; assessment — </a:t>
            </a:r>
            <a:r>
              <a:rPr sz="1700" b="0">
                <a:solidFill>
                  <a:srgbClr val="5A6A66"/>
                </a:solidFill>
                <a:latin typeface="Calibri"/>
              </a:rPr>
              <a:t>enquiry to free home visit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100" b="1">
                <a:solidFill>
                  <a:srgbClr val="E0930F"/>
                </a:solidFill>
                <a:latin typeface="Calibri"/>
              </a:rPr>
              <a:t>●  </a:t>
            </a:r>
            <a:r>
              <a:rPr sz="1700" b="1">
                <a:solidFill>
                  <a:srgbClr val="182A27"/>
                </a:solidFill>
                <a:latin typeface="Calibri"/>
              </a:rPr>
              <a:t>Doctor-approved care plan — </a:t>
            </a:r>
            <a:r>
              <a:rPr sz="1700" b="0">
                <a:solidFill>
                  <a:srgbClr val="5A6A66"/>
                </a:solidFill>
                <a:latin typeface="Calibri"/>
              </a:rPr>
              <a:t>no care starts unapproved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100" b="1">
                <a:solidFill>
                  <a:srgbClr val="E0930F"/>
                </a:solidFill>
                <a:latin typeface="Calibri"/>
              </a:rPr>
              <a:t>●  </a:t>
            </a:r>
            <a:r>
              <a:rPr sz="1700" b="1">
                <a:solidFill>
                  <a:srgbClr val="182A27"/>
                </a:solidFill>
                <a:latin typeface="Calibri"/>
              </a:rPr>
              <a:t>Verified staffing — </a:t>
            </a:r>
            <a:r>
              <a:rPr sz="1700" b="0">
                <a:solidFill>
                  <a:srgbClr val="5A6A66"/>
                </a:solidFill>
                <a:latin typeface="Calibri"/>
              </a:rPr>
              <a:t>background &amp; certification checks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100" b="1">
                <a:solidFill>
                  <a:srgbClr val="E0930F"/>
                </a:solidFill>
                <a:latin typeface="Calibri"/>
              </a:rPr>
              <a:t>●  </a:t>
            </a:r>
            <a:r>
              <a:rPr sz="1700" b="1">
                <a:solidFill>
                  <a:srgbClr val="182A27"/>
                </a:solidFill>
                <a:latin typeface="Calibri"/>
              </a:rPr>
              <a:t>Scheduling — </a:t>
            </a:r>
            <a:r>
              <a:rPr sz="1700" b="0">
                <a:solidFill>
                  <a:srgbClr val="5A6A66"/>
                </a:solidFill>
                <a:latin typeface="Calibri"/>
              </a:rPr>
              <a:t>caretaker shifts + escort trips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100" b="1">
                <a:solidFill>
                  <a:srgbClr val="E0930F"/>
                </a:solidFill>
                <a:latin typeface="Calibri"/>
              </a:rPr>
              <a:t>●  </a:t>
            </a:r>
            <a:r>
              <a:rPr sz="1700" b="1">
                <a:solidFill>
                  <a:srgbClr val="182A27"/>
                </a:solidFill>
                <a:latin typeface="Calibri"/>
              </a:rPr>
              <a:t>Bedside logging — </a:t>
            </a:r>
            <a:r>
              <a:rPr sz="1700" b="0">
                <a:solidFill>
                  <a:srgbClr val="5A6A66"/>
                </a:solidFill>
                <a:latin typeface="Calibri"/>
              </a:rPr>
              <a:t>vitals, meds, 2-hour repositioning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2148840"/>
            <a:ext cx="539496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100" b="1">
                <a:solidFill>
                  <a:srgbClr val="E0930F"/>
                </a:solidFill>
                <a:latin typeface="Calibri"/>
              </a:rPr>
              <a:t>●  </a:t>
            </a:r>
            <a:r>
              <a:rPr sz="1700" b="1">
                <a:solidFill>
                  <a:srgbClr val="182A27"/>
                </a:solidFill>
                <a:latin typeface="Calibri"/>
              </a:rPr>
              <a:t>Hospital escort — </a:t>
            </a:r>
            <a:r>
              <a:rPr sz="1700" b="0">
                <a:solidFill>
                  <a:srgbClr val="5A6A66"/>
                </a:solidFill>
                <a:latin typeface="Calibri"/>
              </a:rPr>
              <a:t>GPS-tracked, checklist-driven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100" b="1">
                <a:solidFill>
                  <a:srgbClr val="E0930F"/>
                </a:solidFill>
                <a:latin typeface="Calibri"/>
              </a:rPr>
              <a:t>●  </a:t>
            </a:r>
            <a:r>
              <a:rPr sz="1700" b="1">
                <a:solidFill>
                  <a:srgbClr val="182A27"/>
                </a:solidFill>
                <a:latin typeface="Calibri"/>
              </a:rPr>
              <a:t>Family transparency — </a:t>
            </a:r>
            <a:r>
              <a:rPr sz="1700" b="0">
                <a:solidFill>
                  <a:srgbClr val="5A6A66"/>
                </a:solidFill>
                <a:latin typeface="Calibri"/>
              </a:rPr>
              <a:t>daily reports + messaging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100" b="1">
                <a:solidFill>
                  <a:srgbClr val="E0930F"/>
                </a:solidFill>
                <a:latin typeface="Calibri"/>
              </a:rPr>
              <a:t>●  </a:t>
            </a:r>
            <a:r>
              <a:rPr sz="1700" b="1">
                <a:solidFill>
                  <a:srgbClr val="182A27"/>
                </a:solidFill>
                <a:latin typeface="Calibri"/>
              </a:rPr>
              <a:t>Safety &amp; emergency — </a:t>
            </a:r>
            <a:r>
              <a:rPr sz="1700" b="0">
                <a:solidFill>
                  <a:srgbClr val="5A6A66"/>
                </a:solidFill>
                <a:latin typeface="Calibri"/>
              </a:rPr>
              <a:t>24×7, under-30-minute response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100" b="1">
                <a:solidFill>
                  <a:srgbClr val="E0930F"/>
                </a:solidFill>
                <a:latin typeface="Calibri"/>
              </a:rPr>
              <a:t>●  </a:t>
            </a:r>
            <a:r>
              <a:rPr sz="1700" b="1">
                <a:solidFill>
                  <a:srgbClr val="182A27"/>
                </a:solidFill>
                <a:latin typeface="Calibri"/>
              </a:rPr>
              <a:t>Billing &amp; payments — </a:t>
            </a:r>
            <a:r>
              <a:rPr sz="1700" b="0">
                <a:solidFill>
                  <a:srgbClr val="5A6A66"/>
                </a:solidFill>
                <a:latin typeface="Calibri"/>
              </a:rPr>
              <a:t>GST invoice, UPI / card / net-banking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A6A66"/>
                </a:solidFill>
                <a:latin typeface="Calibri"/>
              </a:rPr>
              <a:t>Asthimitra  ·  Ortho home care &amp; hospital escort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5A6A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6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66928"/>
            <a:ext cx="822960" cy="82296"/>
          </a:xfrm>
          <a:prstGeom prst="rect">
            <a:avLst/>
          </a:prstGeom>
          <a:solidFill>
            <a:srgbClr val="E09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E0930F"/>
                </a:solidFill>
                <a:latin typeface="Calibri"/>
              </a:rPr>
              <a:t>WHO IT'S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1466C7"/>
                </a:solidFill>
                <a:latin typeface="Georgia"/>
              </a:rPr>
              <a:t>The people around a recovery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25603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0F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94560"/>
            <a:ext cx="2560320" cy="109728"/>
          </a:xfrm>
          <a:prstGeom prst="roundRect">
            <a:avLst/>
          </a:prstGeom>
          <a:solidFill>
            <a:srgbClr val="E09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450592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466C7"/>
                </a:solidFill>
                <a:latin typeface="Calibri"/>
              </a:rPr>
              <a:t>Families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944368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A66"/>
                </a:solidFill>
                <a:latin typeface="Calibri"/>
              </a:rPr>
              <a:t>one trustworthy view; relief from burnout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2194560"/>
            <a:ext cx="25603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0F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83280" y="2194560"/>
            <a:ext cx="2560320" cy="109728"/>
          </a:xfrm>
          <a:prstGeom prst="roundRect">
            <a:avLst/>
          </a:prstGeom>
          <a:solidFill>
            <a:srgbClr val="E09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2450592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466C7"/>
                </a:solidFill>
                <a:latin typeface="Calibri"/>
              </a:rPr>
              <a:t>Patients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2944368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A66"/>
                </a:solidFill>
                <a:latin typeface="Calibri"/>
              </a:rPr>
              <a:t>dignity, consent, comfort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2194560"/>
            <a:ext cx="25603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0F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26480" y="2194560"/>
            <a:ext cx="2560320" cy="109728"/>
          </a:xfrm>
          <a:prstGeom prst="roundRect">
            <a:avLst/>
          </a:prstGeom>
          <a:solidFill>
            <a:srgbClr val="E09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2450592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466C7"/>
                </a:solidFill>
                <a:latin typeface="Calibri"/>
              </a:rPr>
              <a:t>Supervising doctors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7648" y="2944368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A66"/>
                </a:solidFill>
                <a:latin typeface="Calibri"/>
              </a:rPr>
              <a:t>author, approve &amp; review plans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69680" y="2194560"/>
            <a:ext cx="25603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0F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869680" y="2194560"/>
            <a:ext cx="2560320" cy="109728"/>
          </a:xfrm>
          <a:prstGeom prst="roundRect">
            <a:avLst/>
          </a:prstGeom>
          <a:solidFill>
            <a:srgbClr val="E09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70848" y="2450592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466C7"/>
                </a:solidFill>
                <a:latin typeface="Calibri"/>
              </a:rPr>
              <a:t>Physiotherapists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0848" y="2944368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A66"/>
                </a:solidFill>
                <a:latin typeface="Calibri"/>
              </a:rPr>
              <a:t>home exercise &amp; mobility programs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206240"/>
            <a:ext cx="25603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0F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206240"/>
            <a:ext cx="2560320" cy="109728"/>
          </a:xfrm>
          <a:prstGeom prst="roundRect">
            <a:avLst/>
          </a:prstGeom>
          <a:solidFill>
            <a:srgbClr val="E09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4462272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466C7"/>
                </a:solidFill>
                <a:latin typeface="Calibri"/>
              </a:rPr>
              <a:t>Caretakers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4956048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A66"/>
                </a:solidFill>
                <a:latin typeface="Calibri"/>
              </a:rPr>
              <a:t>simple bedside logging &amp; fast escalation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83280" y="4206240"/>
            <a:ext cx="25603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0F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383280" y="4206240"/>
            <a:ext cx="2560320" cy="109728"/>
          </a:xfrm>
          <a:prstGeom prst="roundRect">
            <a:avLst/>
          </a:prstGeom>
          <a:solidFill>
            <a:srgbClr val="E09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84448" y="4462272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466C7"/>
                </a:solidFill>
                <a:latin typeface="Calibri"/>
              </a:rPr>
              <a:t>Escorts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84448" y="4956048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A66"/>
                </a:solidFill>
                <a:latin typeface="Calibri"/>
              </a:rPr>
              <a:t>safe hospital trips &amp; visit notes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26480" y="4206240"/>
            <a:ext cx="25603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0F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26480" y="4206240"/>
            <a:ext cx="2560320" cy="109728"/>
          </a:xfrm>
          <a:prstGeom prst="roundRect">
            <a:avLst/>
          </a:prstGeom>
          <a:solidFill>
            <a:srgbClr val="E09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7648" y="4462272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466C7"/>
                </a:solidFill>
                <a:latin typeface="Calibri"/>
              </a:rPr>
              <a:t>Care coordinators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7648" y="4956048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A66"/>
                </a:solidFill>
                <a:latin typeface="Calibri"/>
              </a:rPr>
              <a:t>scheduling, alerts, quality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69680" y="4206240"/>
            <a:ext cx="25603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0F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69680" y="4206240"/>
            <a:ext cx="2560320" cy="109728"/>
          </a:xfrm>
          <a:prstGeom prst="roundRect">
            <a:avLst/>
          </a:prstGeom>
          <a:solidFill>
            <a:srgbClr val="E09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70848" y="4462272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466C7"/>
                </a:solidFill>
                <a:latin typeface="Calibri"/>
              </a:rPr>
              <a:t>Operations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70848" y="4956048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A66"/>
                </a:solidFill>
                <a:latin typeface="Calibri"/>
              </a:rPr>
              <a:t>compliance, billing, KPIs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A6A66"/>
                </a:solidFill>
                <a:latin typeface="Calibri"/>
              </a:rPr>
              <a:t>Asthimitra  ·  Ortho home care &amp; hospital escort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07040" y="6419088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5A6A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6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66928"/>
            <a:ext cx="822960" cy="82296"/>
          </a:xfrm>
          <a:prstGeom prst="rect">
            <a:avLst/>
          </a:prstGeom>
          <a:solidFill>
            <a:srgbClr val="E09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E0930F"/>
                </a:solidFill>
                <a:latin typeface="Calibri"/>
              </a:rPr>
              <a:t>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1466C7"/>
                </a:solidFill>
                <a:latin typeface="Georgia"/>
              </a:rPr>
              <a:t>One recovery journey, five steps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1962851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0F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10025" y="2788920"/>
            <a:ext cx="822960" cy="822960"/>
          </a:xfrm>
          <a:prstGeom prst="ellipse">
            <a:avLst/>
          </a:prstGeom>
          <a:solidFill>
            <a:srgbClr val="146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10025" y="278892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794760"/>
            <a:ext cx="16336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1466C7"/>
                </a:solidFill>
                <a:latin typeface="Calibri"/>
              </a:rPr>
              <a:t>Enquiry &amp; assessment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4343399"/>
            <a:ext cx="163366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A66"/>
                </a:solidFill>
                <a:latin typeface="Calibri"/>
              </a:rPr>
              <a:t>Call or online form → free home assessment.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30363" y="352044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E0930F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77251" y="2468880"/>
            <a:ext cx="1962851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0F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447196" y="2788920"/>
            <a:ext cx="822960" cy="822960"/>
          </a:xfrm>
          <a:prstGeom prst="ellipse">
            <a:avLst/>
          </a:prstGeom>
          <a:solidFill>
            <a:srgbClr val="146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47196" y="278892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1843" y="3794760"/>
            <a:ext cx="16336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1466C7"/>
                </a:solidFill>
                <a:latin typeface="Calibri"/>
              </a:rPr>
              <a:t>Doctor care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1843" y="4343399"/>
            <a:ext cx="163366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A66"/>
                </a:solidFill>
                <a:latin typeface="Calibri"/>
              </a:rPr>
              <a:t>Physician designs &amp; approves a personalized plan.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7534" y="352044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E0930F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14422" y="2468880"/>
            <a:ext cx="1962851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0F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84367" y="2788920"/>
            <a:ext cx="822960" cy="822960"/>
          </a:xfrm>
          <a:prstGeom prst="ellipse">
            <a:avLst/>
          </a:prstGeom>
          <a:solidFill>
            <a:srgbClr val="146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84367" y="278892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9014" y="3794760"/>
            <a:ext cx="16336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1466C7"/>
                </a:solidFill>
                <a:latin typeface="Calibri"/>
              </a:rPr>
              <a:t>Team assigned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9014" y="4343399"/>
            <a:ext cx="163366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A66"/>
                </a:solidFill>
                <a:latin typeface="Calibri"/>
              </a:rPr>
              <a:t>Matched, verified team is briefed on the plan.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04705" y="352044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E0930F"/>
                </a:solidFill>
                <a:latin typeface="Calibr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51593" y="2468880"/>
            <a:ext cx="1962851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0F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21538" y="2788920"/>
            <a:ext cx="822960" cy="822960"/>
          </a:xfrm>
          <a:prstGeom prst="ellipse">
            <a:avLst/>
          </a:prstGeom>
          <a:solidFill>
            <a:srgbClr val="E09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21538" y="278892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185" y="3794760"/>
            <a:ext cx="16336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1466C7"/>
                </a:solidFill>
                <a:latin typeface="Calibri"/>
              </a:rPr>
              <a:t>Care &amp; monitoring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185" y="4343399"/>
            <a:ext cx="163366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A66"/>
                </a:solidFill>
                <a:latin typeface="Calibri"/>
              </a:rPr>
              <a:t>Daily reports, safety logs, physio &amp; escorts.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1876" y="352044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E0930F"/>
                </a:solidFill>
                <a:latin typeface="Calibri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88764" y="2468880"/>
            <a:ext cx="1962851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0F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158709" y="2788920"/>
            <a:ext cx="822960" cy="822960"/>
          </a:xfrm>
          <a:prstGeom prst="ellipse">
            <a:avLst/>
          </a:prstGeom>
          <a:solidFill>
            <a:srgbClr val="F0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58709" y="278892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5A6A66"/>
                </a:solidFill>
                <a:latin typeface="Georgia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53356" y="3794760"/>
            <a:ext cx="16336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1466C7"/>
                </a:solidFill>
                <a:latin typeface="Calibri"/>
              </a:rPr>
              <a:t>Review &amp; transition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53356" y="4343399"/>
            <a:ext cx="163366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A66"/>
                </a:solidFill>
                <a:latin typeface="Calibri"/>
              </a:rPr>
              <a:t>Monthly review → assisted independence.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5321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A6A66"/>
                </a:solidFill>
                <a:latin typeface="Calibri"/>
              </a:rPr>
              <a:t>Weekly supervisor spot-visits and monthly physician reviews keep the plan right as the patient recovers.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A6A66"/>
                </a:solidFill>
                <a:latin typeface="Calibri"/>
              </a:rPr>
              <a:t>Asthimitra  ·  Ortho home care &amp; hospital escort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419088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5A6A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6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66928"/>
            <a:ext cx="822960" cy="82296"/>
          </a:xfrm>
          <a:prstGeom prst="rect">
            <a:avLst/>
          </a:prstGeom>
          <a:solidFill>
            <a:srgbClr val="E09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E0930F"/>
                </a:solidFill>
                <a:latin typeface="Calibri"/>
              </a:rPr>
              <a:t>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1466C7"/>
                </a:solidFill>
                <a:latin typeface="Georgia"/>
              </a:rPr>
              <a:t>Three apps, one platform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342900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0F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286000"/>
            <a:ext cx="3429000" cy="914400"/>
          </a:xfrm>
          <a:prstGeom prst="roundRect">
            <a:avLst/>
          </a:prstGeom>
          <a:solidFill>
            <a:srgbClr val="E09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743200"/>
            <a:ext cx="3429000" cy="457200"/>
          </a:xfrm>
          <a:prstGeom prst="rect">
            <a:avLst/>
          </a:prstGeom>
          <a:solidFill>
            <a:srgbClr val="E09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432304"/>
            <a:ext cx="28803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Family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37560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0930F"/>
                </a:solidFill>
                <a:latin typeface="Calibri"/>
              </a:rPr>
              <a:t>Follow recovery day by 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840480"/>
            <a:ext cx="29260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E0930F"/>
                </a:solidFill>
                <a:latin typeface="Calibri"/>
              </a:rPr>
              <a:t>●  </a:t>
            </a:r>
            <a:r>
              <a:rPr sz="1300">
                <a:solidFill>
                  <a:srgbClr val="182A27"/>
                </a:solidFill>
                <a:latin typeface="Calibri"/>
              </a:rPr>
              <a:t>Journey &amp; daily reports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E0930F"/>
                </a:solidFill>
                <a:latin typeface="Calibri"/>
              </a:rPr>
              <a:t>●  </a:t>
            </a:r>
            <a:r>
              <a:rPr sz="1300">
                <a:solidFill>
                  <a:srgbClr val="182A27"/>
                </a:solidFill>
                <a:latin typeface="Calibri"/>
              </a:rPr>
              <a:t>Care team &amp; escorts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E0930F"/>
                </a:solidFill>
                <a:latin typeface="Calibri"/>
              </a:rPr>
              <a:t>●  </a:t>
            </a:r>
            <a:r>
              <a:rPr sz="1300">
                <a:solidFill>
                  <a:srgbClr val="182A27"/>
                </a:solidFill>
                <a:latin typeface="Calibri"/>
              </a:rPr>
              <a:t>GST billing + in-app payment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E0930F"/>
                </a:solidFill>
                <a:latin typeface="Calibri"/>
              </a:rPr>
              <a:t>●  </a:t>
            </a:r>
            <a:r>
              <a:rPr sz="1300">
                <a:solidFill>
                  <a:srgbClr val="182A27"/>
                </a:solidFill>
                <a:latin typeface="Calibri"/>
              </a:rPr>
              <a:t>English · Telugu · Hindi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286000"/>
            <a:ext cx="342900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0F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43400" y="2286000"/>
            <a:ext cx="3429000" cy="914400"/>
          </a:xfrm>
          <a:prstGeom prst="roundRect">
            <a:avLst/>
          </a:prstGeom>
          <a:solidFill>
            <a:srgbClr val="4C7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2743200"/>
            <a:ext cx="3429000" cy="457200"/>
          </a:xfrm>
          <a:prstGeom prst="rect">
            <a:avLst/>
          </a:prstGeom>
          <a:solidFill>
            <a:srgbClr val="4C7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432304"/>
            <a:ext cx="28803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Doctor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337560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4C7BB0"/>
                </a:solidFill>
                <a:latin typeface="Calibri"/>
              </a:rPr>
              <a:t>Supervise &amp; approve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840480"/>
            <a:ext cx="29260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E0930F"/>
                </a:solidFill>
                <a:latin typeface="Calibri"/>
              </a:rPr>
              <a:t>●  </a:t>
            </a:r>
            <a:r>
              <a:rPr sz="1300">
                <a:solidFill>
                  <a:srgbClr val="182A27"/>
                </a:solidFill>
                <a:latin typeface="Calibri"/>
              </a:rPr>
              <a:t>Patients &amp; vitals trends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E0930F"/>
                </a:solidFill>
                <a:latin typeface="Calibri"/>
              </a:rPr>
              <a:t>●  </a:t>
            </a:r>
            <a:r>
              <a:rPr sz="1300">
                <a:solidFill>
                  <a:srgbClr val="182A27"/>
                </a:solidFill>
                <a:latin typeface="Calibri"/>
              </a:rPr>
              <a:t>Approve care plans (the gate)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E0930F"/>
                </a:solidFill>
                <a:latin typeface="Calibri"/>
              </a:rPr>
              <a:t>●  </a:t>
            </a:r>
            <a:r>
              <a:rPr sz="1300">
                <a:solidFill>
                  <a:srgbClr val="182A27"/>
                </a:solidFill>
                <a:latin typeface="Calibri"/>
              </a:rPr>
              <a:t>Reviews &amp; clinical alerts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2286000"/>
            <a:ext cx="342900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0F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20" y="2286000"/>
            <a:ext cx="3429000" cy="914400"/>
          </a:xfrm>
          <a:prstGeom prst="roundRect">
            <a:avLst/>
          </a:prstGeom>
          <a:solidFill>
            <a:srgbClr val="E0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2743200"/>
            <a:ext cx="3429000" cy="457200"/>
          </a:xfrm>
          <a:prstGeom prst="rect">
            <a:avLst/>
          </a:prstGeom>
          <a:solidFill>
            <a:srgbClr val="E0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2432304"/>
            <a:ext cx="28803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Escort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337560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07A3E"/>
                </a:solidFill>
                <a:latin typeface="Calibri"/>
              </a:rPr>
              <a:t>Safe hospital trips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840480"/>
            <a:ext cx="29260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E0930F"/>
                </a:solidFill>
                <a:latin typeface="Calibri"/>
              </a:rPr>
              <a:t>●  </a:t>
            </a:r>
            <a:r>
              <a:rPr sz="1300">
                <a:solidFill>
                  <a:srgbClr val="182A27"/>
                </a:solidFill>
                <a:latin typeface="Calibri"/>
              </a:rPr>
              <a:t>Live trip + GPS &amp; ETA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E0930F"/>
                </a:solidFill>
                <a:latin typeface="Calibri"/>
              </a:rPr>
              <a:t>●  </a:t>
            </a:r>
            <a:r>
              <a:rPr sz="1300">
                <a:solidFill>
                  <a:srgbClr val="182A27"/>
                </a:solidFill>
                <a:latin typeface="Calibri"/>
              </a:rPr>
              <a:t>Journey checklist &amp; notes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E0930F"/>
                </a:solidFill>
                <a:latin typeface="Calibri"/>
              </a:rPr>
              <a:t>●  </a:t>
            </a:r>
            <a:r>
              <a:rPr sz="1300">
                <a:solidFill>
                  <a:srgbClr val="182A27"/>
                </a:solidFill>
                <a:latin typeface="Calibri"/>
              </a:rPr>
              <a:t>Works offline, syncs later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A6A66"/>
                </a:solidFill>
                <a:latin typeface="Calibri"/>
              </a:rPr>
              <a:t>Asthimitra  ·  Ortho home care &amp; hospital escort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419088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5A6A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6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66928"/>
            <a:ext cx="822960" cy="82296"/>
          </a:xfrm>
          <a:prstGeom prst="rect">
            <a:avLst/>
          </a:prstGeom>
          <a:solidFill>
            <a:srgbClr val="E09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E0930F"/>
                </a:solidFill>
                <a:latin typeface="Calibri"/>
              </a:rPr>
              <a:t>WHY TRUST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1466C7"/>
                </a:solidFill>
                <a:latin typeface="Georgia"/>
              </a:rPr>
              <a:t>Built for dignity, safety &amp; transparency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3949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1500"/>
              </a:spcAft>
            </a:pPr>
            <a:r>
              <a:rPr sz="1100" b="1">
                <a:solidFill>
                  <a:srgbClr val="E0930F"/>
                </a:solidFill>
                <a:latin typeface="Calibri"/>
              </a:rPr>
              <a:t>●  </a:t>
            </a:r>
            <a:r>
              <a:rPr sz="1600" b="1">
                <a:solidFill>
                  <a:srgbClr val="182A27"/>
                </a:solidFill>
                <a:latin typeface="Calibri"/>
              </a:rPr>
              <a:t>Dignity first — </a:t>
            </a:r>
            <a:r>
              <a:rPr sz="1600" b="0">
                <a:solidFill>
                  <a:srgbClr val="5A6A66"/>
                </a:solidFill>
                <a:latin typeface="Calibri"/>
              </a:rPr>
              <a:t>consent, privacy, respect built in</a:t>
            </a:r>
          </a:p>
          <a:p>
            <a:pPr>
              <a:spcBef>
                <a:spcPts val="0"/>
              </a:spcBef>
              <a:spcAft>
                <a:spcPts val="1500"/>
              </a:spcAft>
            </a:pPr>
            <a:r>
              <a:rPr sz="1100" b="1">
                <a:solidFill>
                  <a:srgbClr val="E0930F"/>
                </a:solidFill>
                <a:latin typeface="Calibri"/>
              </a:rPr>
              <a:t>●  </a:t>
            </a:r>
            <a:r>
              <a:rPr sz="1600" b="1">
                <a:solidFill>
                  <a:srgbClr val="182A27"/>
                </a:solidFill>
                <a:latin typeface="Calibri"/>
              </a:rPr>
              <a:t>Verified people — </a:t>
            </a:r>
            <a:r>
              <a:rPr sz="1600" b="0">
                <a:solidFill>
                  <a:srgbClr val="5A6A66"/>
                </a:solidFill>
                <a:latin typeface="Calibri"/>
              </a:rPr>
              <a:t>police-checked, 120-hr certified, BLS</a:t>
            </a:r>
          </a:p>
          <a:p>
            <a:pPr>
              <a:spcBef>
                <a:spcPts val="0"/>
              </a:spcBef>
              <a:spcAft>
                <a:spcPts val="1500"/>
              </a:spcAft>
            </a:pPr>
            <a:r>
              <a:rPr sz="1100" b="1">
                <a:solidFill>
                  <a:srgbClr val="E0930F"/>
                </a:solidFill>
                <a:latin typeface="Calibri"/>
              </a:rPr>
              <a:t>●  </a:t>
            </a:r>
            <a:r>
              <a:rPr sz="1600" b="1">
                <a:solidFill>
                  <a:srgbClr val="182A27"/>
                </a:solidFill>
                <a:latin typeface="Calibri"/>
              </a:rPr>
              <a:t>No-substitution — </a:t>
            </a:r>
            <a:r>
              <a:rPr sz="1600" b="0">
                <a:solidFill>
                  <a:srgbClr val="5A6A66"/>
                </a:solidFill>
                <a:latin typeface="Calibri"/>
              </a:rPr>
              <a:t>no staff change without your consent</a:t>
            </a:r>
          </a:p>
          <a:p>
            <a:pPr>
              <a:spcBef>
                <a:spcPts val="0"/>
              </a:spcBef>
              <a:spcAft>
                <a:spcPts val="1500"/>
              </a:spcAft>
            </a:pPr>
            <a:r>
              <a:rPr sz="1100" b="1">
                <a:solidFill>
                  <a:srgbClr val="E0930F"/>
                </a:solidFill>
                <a:latin typeface="Calibri"/>
              </a:rPr>
              <a:t>●  </a:t>
            </a:r>
            <a:r>
              <a:rPr sz="1600" b="1">
                <a:solidFill>
                  <a:srgbClr val="182A27"/>
                </a:solidFill>
                <a:latin typeface="Calibri"/>
              </a:rPr>
              <a:t>&lt;30-min emergency — </a:t>
            </a:r>
            <a:r>
              <a:rPr sz="1600" b="0">
                <a:solidFill>
                  <a:srgbClr val="5A6A66"/>
                </a:solidFill>
                <a:latin typeface="Calibri"/>
              </a:rPr>
              <a:t>24×7 desk, tracked escalation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2194560"/>
            <a:ext cx="53949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1500"/>
              </a:spcAft>
            </a:pPr>
            <a:r>
              <a:rPr sz="1100" b="1">
                <a:solidFill>
                  <a:srgbClr val="E0930F"/>
                </a:solidFill>
                <a:latin typeface="Calibri"/>
              </a:rPr>
              <a:t>●  </a:t>
            </a:r>
            <a:r>
              <a:rPr sz="1600" b="1">
                <a:solidFill>
                  <a:srgbClr val="182A27"/>
                </a:solidFill>
                <a:latin typeface="Calibri"/>
              </a:rPr>
              <a:t>Complication safety — </a:t>
            </a:r>
            <a:r>
              <a:rPr sz="1600" b="0">
                <a:solidFill>
                  <a:srgbClr val="5A6A66"/>
                </a:solidFill>
                <a:latin typeface="Calibri"/>
              </a:rPr>
              <a:t>2-hour repositioning, fall prevention</a:t>
            </a:r>
          </a:p>
          <a:p>
            <a:pPr>
              <a:spcBef>
                <a:spcPts val="0"/>
              </a:spcBef>
              <a:spcAft>
                <a:spcPts val="1500"/>
              </a:spcAft>
            </a:pPr>
            <a:r>
              <a:rPr sz="1100" b="1">
                <a:solidFill>
                  <a:srgbClr val="E0930F"/>
                </a:solidFill>
                <a:latin typeface="Calibri"/>
              </a:rPr>
              <a:t>●  </a:t>
            </a:r>
            <a:r>
              <a:rPr sz="1600" b="1">
                <a:solidFill>
                  <a:srgbClr val="182A27"/>
                </a:solidFill>
                <a:latin typeface="Calibri"/>
              </a:rPr>
              <a:t>Transparent billing — </a:t>
            </a:r>
            <a:r>
              <a:rPr sz="1600" b="0">
                <a:solidFill>
                  <a:srgbClr val="5A6A66"/>
                </a:solidFill>
                <a:latin typeface="Calibri"/>
              </a:rPr>
              <a:t>written estimate first, GST, no surprises</a:t>
            </a:r>
          </a:p>
          <a:p>
            <a:pPr>
              <a:spcBef>
                <a:spcPts val="0"/>
              </a:spcBef>
              <a:spcAft>
                <a:spcPts val="1500"/>
              </a:spcAft>
            </a:pPr>
            <a:r>
              <a:rPr sz="1100" b="1">
                <a:solidFill>
                  <a:srgbClr val="E0930F"/>
                </a:solidFill>
                <a:latin typeface="Calibri"/>
              </a:rPr>
              <a:t>●  </a:t>
            </a:r>
            <a:r>
              <a:rPr sz="1600" b="1">
                <a:solidFill>
                  <a:srgbClr val="182A27"/>
                </a:solidFill>
                <a:latin typeface="Calibri"/>
              </a:rPr>
              <a:t>Compliant — </a:t>
            </a:r>
            <a:r>
              <a:rPr sz="1600" b="0">
                <a:solidFill>
                  <a:srgbClr val="5A6A66"/>
                </a:solidFill>
                <a:latin typeface="Calibri"/>
              </a:rPr>
              <a:t>HIPAA-aligned, NABH guidelines</a:t>
            </a:r>
          </a:p>
          <a:p>
            <a:pPr>
              <a:spcBef>
                <a:spcPts val="0"/>
              </a:spcBef>
              <a:spcAft>
                <a:spcPts val="1500"/>
              </a:spcAft>
            </a:pPr>
            <a:r>
              <a:rPr sz="1100" b="1">
                <a:solidFill>
                  <a:srgbClr val="E0930F"/>
                </a:solidFill>
                <a:latin typeface="Calibri"/>
              </a:rPr>
              <a:t>●  </a:t>
            </a:r>
            <a:r>
              <a:rPr sz="1600" b="1">
                <a:solidFill>
                  <a:srgbClr val="182A27"/>
                </a:solidFill>
                <a:latin typeface="Calibri"/>
              </a:rPr>
              <a:t>Built for v1 — </a:t>
            </a:r>
            <a:r>
              <a:rPr sz="1600" b="0">
                <a:solidFill>
                  <a:srgbClr val="5A6A66"/>
                </a:solidFill>
                <a:latin typeface="Calibri"/>
              </a:rPr>
              <a:t>Hyderabad · EN/TE/HI · offline-first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532120"/>
            <a:ext cx="10881360" cy="685800"/>
          </a:xfrm>
          <a:prstGeom prst="roundRect">
            <a:avLst/>
          </a:prstGeom>
          <a:solidFill>
            <a:srgbClr val="F0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103327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466C7"/>
                </a:solidFill>
                <a:latin typeface="Calibri"/>
              </a:rPr>
              <a:t>Mission: dignified, professional, compassionate orthopedic care at home.   Promise: every caretaker trained, verified, and doctor-supervised.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A6A66"/>
                </a:solidFill>
                <a:latin typeface="Calibri"/>
              </a:rPr>
              <a:t>Asthimitra  ·  Ortho home care &amp; hospital escort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19088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5A6A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